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9493910B-8706-4708-BFD8-89447CCF6A0B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4000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복지탐정 WELFIND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B3FBA9C-5CD9-44FF-8FC3-BBAF15E197EA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67475B6-D722-453A-BB4F-4BE7B9834577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666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복지탐정 WELFIND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954312-3526-4A52-A3C7-2F7C800DCDF7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7572375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5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보이지 않는 고립의 신호를</a:t>
            </a:r>
          </a:p>
          <a:p>
            <a:pPr>
              <a:defRPr sz="35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먼저 찾아 연결합니다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784ED87-ABEF-4E56-BAAF-B956E83A0A0D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733425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2026 빅콘테스트</a:t>
            </a:r>
          </a:p>
          <a:p>
            <a:pPr>
              <a:defRPr sz="195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사회적 고립 예방 및 대응 AI Agent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B6E6B38-EFA9-435F-85F7-680EB0E147DD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6191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7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팀 이름   /   발표일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37077" y="1943100"/>
            <a:ext cx="2842597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366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FC70DD28-D646-4117-8449-B4EBF9F6D13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85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목차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F01D58F-6B5F-4A8B-9153-8F7FC3A792CB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75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문제 정의에서 서비스 시연과 기대효과까지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D054725-49EA-485E-891B-3B57FFBD175E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4000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복지탐정 WELFIND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CCD1A63-11CF-48CB-B678-14CF579EF234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189CDE9-6922-4342-977F-52829F3F2BA1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7810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 b="1">
                <a:solidFill>
                  <a:srgbClr val="14B8A6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>
                <a:solidFill>
                  <a:srgbClr val="14B8A6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27B7B08-0040-4AE1-8B01-19C0BA46F628}"/>
              </a:ext>
            </a:extLst>
          </p:cNvPr>
          <p:cNvSpPr>
            <a:spLocks noGrp="1"/>
          </p:cNvSpPr>
          <p:nvPr/>
        </p:nvSpPr>
        <p:spPr>
          <a:xfrm>
            <a:off x="1638300" y="2133600"/>
            <a:ext cx="4381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문제 정의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ACBDE0A-3960-437E-B89B-F3582599A785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7810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 b="1">
                <a:solidFill>
                  <a:srgbClr val="14B8A6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>
                <a:solidFill>
                  <a:srgbClr val="14B8A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C131625-7CCA-42F8-B5A9-FE82390DC4E0}"/>
              </a:ext>
            </a:extLst>
          </p:cNvPr>
          <p:cNvSpPr>
            <a:spLocks noGrp="1"/>
          </p:cNvSpPr>
          <p:nvPr/>
        </p:nvSpPr>
        <p:spPr>
          <a:xfrm>
            <a:off x="1638300" y="3333750"/>
            <a:ext cx="4381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데이터 기반 위험 신호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930442-68A9-4238-90B9-D870A585CF37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7810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 b="1">
                <a:solidFill>
                  <a:srgbClr val="14B8A6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>
                <a:solidFill>
                  <a:srgbClr val="14B8A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D808E29-D79D-4A84-B016-34A31D9BE01E}"/>
              </a:ext>
            </a:extLst>
          </p:cNvPr>
          <p:cNvSpPr>
            <a:spLocks noGrp="1"/>
          </p:cNvSpPr>
          <p:nvPr/>
        </p:nvSpPr>
        <p:spPr>
          <a:xfrm>
            <a:off x="1638300" y="4533900"/>
            <a:ext cx="4381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AI Agent 설계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E5645D5-5088-49B2-BE94-43DAD71EC508}"/>
              </a:ext>
            </a:extLst>
          </p:cNvPr>
          <p:cNvSpPr>
            <a:spLocks noGrp="1"/>
          </p:cNvSpPr>
          <p:nvPr/>
        </p:nvSpPr>
        <p:spPr>
          <a:xfrm>
            <a:off x="6572250" y="2114550"/>
            <a:ext cx="7810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 b="1">
                <a:solidFill>
                  <a:srgbClr val="14B8A6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>
                <a:solidFill>
                  <a:srgbClr val="14B8A6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FE8133A-1048-40EE-AEE4-8C9D133868D8}"/>
              </a:ext>
            </a:extLst>
          </p:cNvPr>
          <p:cNvSpPr>
            <a:spLocks noGrp="1"/>
          </p:cNvSpPr>
          <p:nvPr/>
        </p:nvSpPr>
        <p:spPr>
          <a:xfrm>
            <a:off x="7600950" y="2133600"/>
            <a:ext cx="4381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대시보드·모바일 시연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E6364BC-B89A-4ECF-8DF5-3FD6E08BA176}"/>
              </a:ext>
            </a:extLst>
          </p:cNvPr>
          <p:cNvSpPr>
            <a:spLocks noGrp="1"/>
          </p:cNvSpPr>
          <p:nvPr/>
        </p:nvSpPr>
        <p:spPr>
          <a:xfrm>
            <a:off x="6572250" y="3314700"/>
            <a:ext cx="7810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 b="1">
                <a:solidFill>
                  <a:srgbClr val="14B8A6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>
                <a:solidFill>
                  <a:srgbClr val="14B8A6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146E9CD-300B-48D3-9B4C-72AD2762E3B2}"/>
              </a:ext>
            </a:extLst>
          </p:cNvPr>
          <p:cNvSpPr>
            <a:spLocks noGrp="1"/>
          </p:cNvSpPr>
          <p:nvPr/>
        </p:nvSpPr>
        <p:spPr>
          <a:xfrm>
            <a:off x="7600950" y="3333750"/>
            <a:ext cx="4381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현장 피드백과 개선 구조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0D989EF-2533-4C6F-8A13-20546092382E}"/>
              </a:ext>
            </a:extLst>
          </p:cNvPr>
          <p:cNvSpPr>
            <a:spLocks noGrp="1"/>
          </p:cNvSpPr>
          <p:nvPr/>
        </p:nvSpPr>
        <p:spPr>
          <a:xfrm>
            <a:off x="6572250" y="4514850"/>
            <a:ext cx="7810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 b="1">
                <a:solidFill>
                  <a:srgbClr val="14B8A6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>
                <a:solidFill>
                  <a:srgbClr val="14B8A6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9B8D185-3AEF-4997-ADE6-87E02BF6432A}"/>
              </a:ext>
            </a:extLst>
          </p:cNvPr>
          <p:cNvSpPr>
            <a:spLocks noGrp="1"/>
          </p:cNvSpPr>
          <p:nvPr/>
        </p:nvSpPr>
        <p:spPr>
          <a:xfrm>
            <a:off x="7600950" y="4533900"/>
            <a:ext cx="4381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기대효과</a:t>
            </a:r>
          </a:p>
        </p:txBody>
      </p:sp>
    </p:spTree>
    <p:extLst>
      <p:ext uri="{BB962C8B-B14F-4D97-AF65-F5344CB8AC3E}">
        <p14:creationId xmlns:p14="http://schemas.microsoft.com/office/powerpoint/2010/main" val="534994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3C15376-DC5B-419F-A926-2FE312E61AD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4000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 b="0">
                <a:solidFill>
                  <a:srgbClr val="CBD5E1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BD5E1"/>
                </a:solidFill>
                <a:latin typeface="Noto Sans KR"/>
                <a:ea typeface="Noto Sans KR"/>
                <a:cs typeface="Noto Sans KR"/>
              </a:rPr>
              <a:t>복지탐정 WELFIND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627EFD7-A811-4E80-A91D-96605BDCE8BF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 b="0">
                <a:solidFill>
                  <a:srgbClr val="CBD5E1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BD5E1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17E60CC-7E6A-4D6F-B642-582ABB5421FC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450" b="1">
                <a:solidFill>
                  <a:srgbClr val="14B8A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4B8A6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1851BA8-6540-43FF-9C0F-00AC4EB7CF49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10477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6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6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섹션 제목을 입력하세요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9AA7C96-1232-48F5-8658-5907A19E0EF0}"/>
              </a:ext>
            </a:extLst>
          </p:cNvPr>
          <p:cNvSpPr>
            <a:spLocks noGrp="1"/>
          </p:cNvSpPr>
          <p:nvPr/>
        </p:nvSpPr>
        <p:spPr>
          <a:xfrm>
            <a:off x="647700" y="3819525"/>
            <a:ext cx="10477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CBD5E1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CBD5E1"/>
                </a:solidFill>
                <a:latin typeface="Noto Sans KR"/>
                <a:ea typeface="Noto Sans KR"/>
                <a:cs typeface="Noto Sans KR"/>
              </a:rPr>
              <a:t>섹션을 한 문장으로 요약하는 부제 영역입니다.</a:t>
            </a:r>
          </a:p>
        </p:txBody>
      </p:sp>
    </p:spTree>
    <p:extLst>
      <p:ext uri="{BB962C8B-B14F-4D97-AF65-F5344CB8AC3E}">
        <p14:creationId xmlns:p14="http://schemas.microsoft.com/office/powerpoint/2010/main" val="2045688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6A6CC73F-EE2D-42B5-94B5-B698B911F2D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85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핵심 메시지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06D5E7E-8ED5-4091-853C-1105D3E17BC0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75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슬라이드 하나에는 하나의 판단만 담습니다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FF63F09-F12B-4319-A649-678BE5792E5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4000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복지탐정 WELFIND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227FF72-C6AB-4384-A6BE-6E7070DF80D6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71F510C-E352-4D47-A98E-4009F98D214C}"/>
              </a:ext>
            </a:extLst>
          </p:cNvPr>
          <p:cNvSpPr>
            <a:spLocks noGrp="1"/>
          </p:cNvSpPr>
          <p:nvPr/>
        </p:nvSpPr>
        <p:spPr>
          <a:xfrm>
            <a:off x="609600" y="2276475"/>
            <a:ext cx="7810500" cy="167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9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사회적 고립은 사후 대응보다</a:t>
            </a:r>
          </a:p>
          <a:p>
            <a:pPr>
              <a:defRPr sz="29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초기 징후 발견과 연결이 중요합니다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C9DF575-A367-4EA2-8158-5D83193468F8}"/>
              </a:ext>
            </a:extLst>
          </p:cNvPr>
          <p:cNvSpPr>
            <a:spLocks noGrp="1"/>
          </p:cNvSpPr>
          <p:nvPr/>
        </p:nvSpPr>
        <p:spPr>
          <a:xfrm>
            <a:off x="609600" y="4543425"/>
            <a:ext cx="74295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근거 한 줄 또는 핵심 데이터를 입력하세요.</a:t>
            </a:r>
          </a:p>
          <a:p>
            <a:pPr>
              <a:defRPr sz="195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다음 행동을 한 문장으로 정리하세요.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29227" y="2276475"/>
            <a:ext cx="2163147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704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CFC40A4E-CC40-45A7-8007-B030B190CBC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85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문제 정의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B3BAF7-2859-4ED6-82AD-69545CA6FA07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75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기존 복지 체계의 한계를 사용자 관점으로 설명합니다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F41EA8F-5E3D-4D2D-BD62-FFDB3C59B9B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4000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복지탐정 WELFIND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0BAC362-CC20-4C7C-BFD9-90D6F4E578D3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902E39C-B3CE-4255-87CE-6E0214C6DBBA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32861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사후 대응 중심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07A58B-7DC2-4FA4-8181-FFAA4DB76CB4}"/>
              </a:ext>
            </a:extLst>
          </p:cNvPr>
          <p:cNvSpPr>
            <a:spLocks noGrp="1"/>
          </p:cNvSpPr>
          <p:nvPr/>
        </p:nvSpPr>
        <p:spPr>
          <a:xfrm>
            <a:off x="609600" y="3076575"/>
            <a:ext cx="3286125" cy="209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위기 발생 이후에야</a:t>
            </a:r>
          </a:p>
          <a:p>
            <a:pPr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개입되는 경우가 많음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F528F1-4A9C-4887-A149-CBC9C4251978}"/>
              </a:ext>
            </a:extLst>
          </p:cNvPr>
          <p:cNvSpPr>
            <a:spLocks noGrp="1"/>
          </p:cNvSpPr>
          <p:nvPr/>
        </p:nvSpPr>
        <p:spPr>
          <a:xfrm>
            <a:off x="4362450" y="2390775"/>
            <a:ext cx="32861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분산된 데이터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BCD37EB-A799-4ECE-BC72-57695C6DACD7}"/>
              </a:ext>
            </a:extLst>
          </p:cNvPr>
          <p:cNvSpPr>
            <a:spLocks noGrp="1"/>
          </p:cNvSpPr>
          <p:nvPr/>
        </p:nvSpPr>
        <p:spPr>
          <a:xfrm>
            <a:off x="4362450" y="3076575"/>
            <a:ext cx="3286125" cy="209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통신·카드·공공데이터가</a:t>
            </a:r>
          </a:p>
          <a:p>
            <a:pPr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업무 흐름으로 연결되지 않음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2FAC46-2FD1-43A2-9D0D-499627E75F9E}"/>
              </a:ext>
            </a:extLst>
          </p:cNvPr>
          <p:cNvSpPr>
            <a:spLocks noGrp="1"/>
          </p:cNvSpPr>
          <p:nvPr/>
        </p:nvSpPr>
        <p:spPr>
          <a:xfrm>
            <a:off x="8115300" y="2390775"/>
            <a:ext cx="32861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현장 부담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14D5B0D-139F-4333-95AD-8C1CC356D7FE}"/>
              </a:ext>
            </a:extLst>
          </p:cNvPr>
          <p:cNvSpPr>
            <a:spLocks noGrp="1"/>
          </p:cNvSpPr>
          <p:nvPr/>
        </p:nvSpPr>
        <p:spPr>
          <a:xfrm>
            <a:off x="8115300" y="3076575"/>
            <a:ext cx="3286125" cy="209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담당자가 모든 지역 변화를</a:t>
            </a:r>
          </a:p>
          <a:p>
            <a:pPr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직접 추적하기 어려움</a:t>
            </a:r>
          </a:p>
        </p:txBody>
      </p:sp>
    </p:spTree>
    <p:extLst>
      <p:ext uri="{BB962C8B-B14F-4D97-AF65-F5344CB8AC3E}">
        <p14:creationId xmlns:p14="http://schemas.microsoft.com/office/powerpoint/2010/main" val="58874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6EBBF5A4-9FD4-4B5E-A16B-E371CCB2C68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85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데이터 인사이트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DEA5EB3-1637-4FEF-AAC4-98E0F12C48D6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75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통신·카드·공공데이터를 결합해 지역 단위 위험 신호를 탐지합니다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2E3D4CA-9C62-4942-A591-771B260866BF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4000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복지탐정 WELFIND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9371912-5355-4F4D-BAFB-0B50C302948C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D4529BE-C97C-468F-8029-2F4C10DDAC1E}"/>
              </a:ext>
            </a:extLst>
          </p:cNvPr>
          <p:cNvSpPr>
            <a:spLocks noGrp="1"/>
          </p:cNvSpPr>
          <p:nvPr/>
        </p:nvSpPr>
        <p:spPr>
          <a:xfrm>
            <a:off x="609600" y="2057400"/>
            <a:ext cx="447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위험 신호 예시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3FF4144-D42F-46AD-BDAA-4DF1677BC0F5}"/>
              </a:ext>
            </a:extLst>
          </p:cNvPr>
          <p:cNvSpPr>
            <a:spLocks noGrp="1"/>
          </p:cNvSpPr>
          <p:nvPr/>
        </p:nvSpPr>
        <p:spPr>
          <a:xfrm>
            <a:off x="609600" y="2809875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야간 생활인구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8C1DC2-A40C-4366-8705-68C5FAF01730}"/>
              </a:ext>
            </a:extLst>
          </p:cNvPr>
          <p:cNvSpPr>
            <a:spLocks noGrp="1"/>
          </p:cNvSpPr>
          <p:nvPr/>
        </p:nvSpPr>
        <p:spPr>
          <a:xfrm>
            <a:off x="3762375" y="2809875"/>
            <a:ext cx="14763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-11%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BB6745-3F58-4244-9543-B1712C3F2EA9}"/>
              </a:ext>
            </a:extLst>
          </p:cNvPr>
          <p:cNvSpPr>
            <a:spLocks noGrp="1"/>
          </p:cNvSpPr>
          <p:nvPr/>
        </p:nvSpPr>
        <p:spPr>
          <a:xfrm>
            <a:off x="609600" y="3533775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주말 생활인구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79723FD-AEE7-48A2-83ED-E780531CDACE}"/>
              </a:ext>
            </a:extLst>
          </p:cNvPr>
          <p:cNvSpPr>
            <a:spLocks noGrp="1"/>
          </p:cNvSpPr>
          <p:nvPr/>
        </p:nvSpPr>
        <p:spPr>
          <a:xfrm>
            <a:off x="3762375" y="3533775"/>
            <a:ext cx="14763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-9%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ED42BC7-3EBB-4FC8-82F3-3975DB9C806F}"/>
              </a:ext>
            </a:extLst>
          </p:cNvPr>
          <p:cNvSpPr>
            <a:spLocks noGrp="1"/>
          </p:cNvSpPr>
          <p:nvPr/>
        </p:nvSpPr>
        <p:spPr>
          <a:xfrm>
            <a:off x="609600" y="4257675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생활 소비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3E6965A-A2F6-450E-BACE-D9EC6C1FF516}"/>
              </a:ext>
            </a:extLst>
          </p:cNvPr>
          <p:cNvSpPr>
            <a:spLocks noGrp="1"/>
          </p:cNvSpPr>
          <p:nvPr/>
        </p:nvSpPr>
        <p:spPr>
          <a:xfrm>
            <a:off x="3762375" y="4257675"/>
            <a:ext cx="14763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-7%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F84E596-4CFD-4214-878B-CA43DBD0290E}"/>
              </a:ext>
            </a:extLst>
          </p:cNvPr>
          <p:cNvSpPr>
            <a:spLocks noGrp="1"/>
          </p:cNvSpPr>
          <p:nvPr/>
        </p:nvSpPr>
        <p:spPr>
          <a:xfrm>
            <a:off x="609600" y="4981575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서비스 미연계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52CFF98-9B2A-4E68-A1F2-F576BC432A80}"/>
              </a:ext>
            </a:extLst>
          </p:cNvPr>
          <p:cNvSpPr>
            <a:spLocks noGrp="1"/>
          </p:cNvSpPr>
          <p:nvPr/>
        </p:nvSpPr>
        <p:spPr>
          <a:xfrm>
            <a:off x="3762375" y="4981575"/>
            <a:ext cx="14763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1">
                <a:solidFill>
                  <a:srgbClr val="14B8A6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4B8A6"/>
                </a:solidFill>
                <a:latin typeface="Noto Sans KR"/>
                <a:ea typeface="Noto Sans KR"/>
                <a:cs typeface="Noto Sans KR"/>
              </a:rPr>
              <a:t>높음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FC2A9FF-57AF-4C12-9613-82E7898FDE59}"/>
              </a:ext>
            </a:extLst>
          </p:cNvPr>
          <p:cNvSpPr>
            <a:spLocks noGrp="1"/>
          </p:cNvSpPr>
          <p:nvPr/>
        </p:nvSpPr>
        <p:spPr>
          <a:xfrm>
            <a:off x="6048375" y="2152650"/>
            <a:ext cx="538162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그래프 또는 지도 배치 영역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1B5B09C-715E-46EA-9BEA-0A669DB9FB6B}"/>
              </a:ext>
            </a:extLst>
          </p:cNvPr>
          <p:cNvSpPr>
            <a:spLocks noGrp="1"/>
          </p:cNvSpPr>
          <p:nvPr/>
        </p:nvSpPr>
        <p:spPr>
          <a:xfrm>
            <a:off x="6048375" y="3286125"/>
            <a:ext cx="5334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분석 결과 이미지를 여기에 배치하세요.</a:t>
            </a:r>
          </a:p>
          <a:p>
            <a:pPr>
              <a:defRPr sz="187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기간·지역·단위·출처를 함께 표기하세요.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01014E8-7B32-4428-904F-10F4A0C78A92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858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※ 위 수치는 템플릿 예시입니다. 실제 분석 결과로 교체하세요.</a:t>
            </a:r>
          </a:p>
        </p:txBody>
      </p:sp>
    </p:spTree>
    <p:extLst>
      <p:ext uri="{BB962C8B-B14F-4D97-AF65-F5344CB8AC3E}">
        <p14:creationId xmlns:p14="http://schemas.microsoft.com/office/powerpoint/2010/main" val="940248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FF379542-9EF5-41A9-9CB8-0E0E8B3154C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85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AI Agent 운영 흐름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21A4D93-38DA-4CB8-9D91-C969B348D4AB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75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탐지부터 후속 관찰까지 담당자의 업무 흐름에 연결합니다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FC2740D-D271-4D6C-8D42-A2C6982D5D8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4000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복지탐정 WELFIND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AACBACE-DC52-4713-BCC4-27D69F9D636B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273D60D-69D0-405E-AC9A-63B6D9842D9A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1">
                <a:solidFill>
                  <a:srgbClr val="14B8A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4B8A6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FC4FBD6-2DCD-45F8-A22A-1F60F68E2875}"/>
              </a:ext>
            </a:extLst>
          </p:cNvPr>
          <p:cNvSpPr>
            <a:spLocks noGrp="1"/>
          </p:cNvSpPr>
          <p:nvPr/>
        </p:nvSpPr>
        <p:spPr>
          <a:xfrm>
            <a:off x="609600" y="2638425"/>
            <a:ext cx="3333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위험 신호 탐지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F2A6FF0-0BAD-4054-AF71-A1B69EE816C6}"/>
              </a:ext>
            </a:extLst>
          </p:cNvPr>
          <p:cNvSpPr>
            <a:spLocks noGrp="1"/>
          </p:cNvSpPr>
          <p:nvPr/>
        </p:nvSpPr>
        <p:spPr>
          <a:xfrm>
            <a:off x="4352925" y="2095500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1">
                <a:solidFill>
                  <a:srgbClr val="14B8A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4B8A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7454E6E-54C8-4348-A678-1F22F0DD496A}"/>
              </a:ext>
            </a:extLst>
          </p:cNvPr>
          <p:cNvSpPr>
            <a:spLocks noGrp="1"/>
          </p:cNvSpPr>
          <p:nvPr/>
        </p:nvSpPr>
        <p:spPr>
          <a:xfrm>
            <a:off x="4352925" y="2638425"/>
            <a:ext cx="3333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위험 수준 판단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D3BAC19-E2D7-4F90-95A9-A0BAD9B5BC92}"/>
              </a:ext>
            </a:extLst>
          </p:cNvPr>
          <p:cNvSpPr>
            <a:spLocks noGrp="1"/>
          </p:cNvSpPr>
          <p:nvPr/>
        </p:nvSpPr>
        <p:spPr>
          <a:xfrm>
            <a:off x="8096250" y="2095500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1">
                <a:solidFill>
                  <a:srgbClr val="14B8A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4B8A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8812F1F-7090-4DB1-95F5-725AE2A67983}"/>
              </a:ext>
            </a:extLst>
          </p:cNvPr>
          <p:cNvSpPr>
            <a:spLocks noGrp="1"/>
          </p:cNvSpPr>
          <p:nvPr/>
        </p:nvSpPr>
        <p:spPr>
          <a:xfrm>
            <a:off x="8096250" y="2638425"/>
            <a:ext cx="3333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원인 분석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6C1DC8C-32D1-4539-BBFF-4339F68CFD10}"/>
              </a:ext>
            </a:extLst>
          </p:cNvPr>
          <p:cNvSpPr>
            <a:spLocks noGrp="1"/>
          </p:cNvSpPr>
          <p:nvPr/>
        </p:nvSpPr>
        <p:spPr>
          <a:xfrm>
            <a:off x="609600" y="3552825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1">
                <a:solidFill>
                  <a:srgbClr val="14B8A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4B8A6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1A90183-BFA5-47CE-BF3F-2EFF62018863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3333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대응안 추천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22AAFD1-ADAF-4768-9D4E-1A6A58CA659A}"/>
              </a:ext>
            </a:extLst>
          </p:cNvPr>
          <p:cNvSpPr>
            <a:spLocks noGrp="1"/>
          </p:cNvSpPr>
          <p:nvPr/>
        </p:nvSpPr>
        <p:spPr>
          <a:xfrm>
            <a:off x="4352925" y="3552825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1">
                <a:solidFill>
                  <a:srgbClr val="14B8A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4B8A6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3346356-73DD-4A07-826E-DF6AA9CD9C8B}"/>
              </a:ext>
            </a:extLst>
          </p:cNvPr>
          <p:cNvSpPr>
            <a:spLocks noGrp="1"/>
          </p:cNvSpPr>
          <p:nvPr/>
        </p:nvSpPr>
        <p:spPr>
          <a:xfrm>
            <a:off x="4352925" y="4095750"/>
            <a:ext cx="3333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현장 확인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C2ED660-C48A-4E11-B1C4-43F7CE7D58B9}"/>
              </a:ext>
            </a:extLst>
          </p:cNvPr>
          <p:cNvSpPr>
            <a:spLocks noGrp="1"/>
          </p:cNvSpPr>
          <p:nvPr/>
        </p:nvSpPr>
        <p:spPr>
          <a:xfrm>
            <a:off x="8096250" y="3552825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 b="1">
                <a:solidFill>
                  <a:srgbClr val="14B8A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4B8A6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3F5032E-AB07-4C72-A52C-CA52EF18AEA9}"/>
              </a:ext>
            </a:extLst>
          </p:cNvPr>
          <p:cNvSpPr>
            <a:spLocks noGrp="1"/>
          </p:cNvSpPr>
          <p:nvPr/>
        </p:nvSpPr>
        <p:spPr>
          <a:xfrm>
            <a:off x="8096250" y="4095750"/>
            <a:ext cx="3333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후속 관찰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8F4727F-F766-49A8-8403-EC69587B2A4B}"/>
              </a:ext>
            </a:extLst>
          </p:cNvPr>
          <p:cNvSpPr>
            <a:spLocks noGrp="1"/>
          </p:cNvSpPr>
          <p:nvPr/>
        </p:nvSpPr>
        <p:spPr>
          <a:xfrm>
            <a:off x="609600" y="5600700"/>
            <a:ext cx="10763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담당자의 현장 판단과 확인 결과를 다음 추천 개선에 반영합니다.</a:t>
            </a:r>
          </a:p>
        </p:txBody>
      </p:sp>
    </p:spTree>
    <p:extLst>
      <p:ext uri="{BB962C8B-B14F-4D97-AF65-F5344CB8AC3E}">
        <p14:creationId xmlns:p14="http://schemas.microsoft.com/office/powerpoint/2010/main" val="1046754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0ACB55A1-F04E-420F-976B-DA3CAE039DF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85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시스템 구조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36AAF25-3CCD-40A3-8E76-EA5B4FEE9EF9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75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데이터 파이프라인, 예측 모델, Agent, 업무 화면의 연결 구조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F41F354-FD6A-4BBC-A90C-FA0FA1A6B4A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4000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복지탐정 WELFIND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94E8EB4-98BA-436D-A73A-06E1978334A3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F05A536-C0CC-4C4F-A66F-9781BE6BF885}"/>
              </a:ext>
            </a:extLst>
          </p:cNvPr>
          <p:cNvSpPr>
            <a:spLocks noGrp="1"/>
          </p:cNvSpPr>
          <p:nvPr/>
        </p:nvSpPr>
        <p:spPr>
          <a:xfrm>
            <a:off x="609600" y="2352675"/>
            <a:ext cx="2590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01  Data Layer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1287ABD-9F34-4D52-A629-5F58E5A5B356}"/>
              </a:ext>
            </a:extLst>
          </p:cNvPr>
          <p:cNvSpPr>
            <a:spLocks noGrp="1"/>
          </p:cNvSpPr>
          <p:nvPr/>
        </p:nvSpPr>
        <p:spPr>
          <a:xfrm>
            <a:off x="609600" y="3476625"/>
            <a:ext cx="2590800" cy="160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통신·카드·공공데이터</a:t>
            </a:r>
          </a:p>
          <a:p>
            <a:pPr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정제·집계·지표화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32120A-C7A1-4DED-93F0-1CC5530A38B5}"/>
              </a:ext>
            </a:extLst>
          </p:cNvPr>
          <p:cNvSpPr>
            <a:spLocks noGrp="1"/>
          </p:cNvSpPr>
          <p:nvPr/>
        </p:nvSpPr>
        <p:spPr>
          <a:xfrm>
            <a:off x="3429000" y="2352675"/>
            <a:ext cx="2590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02  Model Layer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B198263-B628-4B1D-95F0-7C5A82917D33}"/>
              </a:ext>
            </a:extLst>
          </p:cNvPr>
          <p:cNvSpPr>
            <a:spLocks noGrp="1"/>
          </p:cNvSpPr>
          <p:nvPr/>
        </p:nvSpPr>
        <p:spPr>
          <a:xfrm>
            <a:off x="3429000" y="3476625"/>
            <a:ext cx="2590800" cy="160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위험도 산출</a:t>
            </a:r>
          </a:p>
          <a:p>
            <a:pPr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변화 신호·사각지대 탐지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4A1519E-2DDB-4D5C-9F2B-5924E37363C2}"/>
              </a:ext>
            </a:extLst>
          </p:cNvPr>
          <p:cNvSpPr>
            <a:spLocks noGrp="1"/>
          </p:cNvSpPr>
          <p:nvPr/>
        </p:nvSpPr>
        <p:spPr>
          <a:xfrm>
            <a:off x="6248400" y="2352675"/>
            <a:ext cx="2590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03  Agent Layer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29C79B-C66C-4B04-8C6D-0814B3494C7E}"/>
              </a:ext>
            </a:extLst>
          </p:cNvPr>
          <p:cNvSpPr>
            <a:spLocks noGrp="1"/>
          </p:cNvSpPr>
          <p:nvPr/>
        </p:nvSpPr>
        <p:spPr>
          <a:xfrm>
            <a:off x="6248400" y="3476625"/>
            <a:ext cx="2590800" cy="160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원인 설명</a:t>
            </a:r>
          </a:p>
          <a:p>
            <a:pPr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대응안·서비스 추천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BE61024-F30E-4D57-87CF-8CA70D77A22F}"/>
              </a:ext>
            </a:extLst>
          </p:cNvPr>
          <p:cNvSpPr>
            <a:spLocks noGrp="1"/>
          </p:cNvSpPr>
          <p:nvPr/>
        </p:nvSpPr>
        <p:spPr>
          <a:xfrm>
            <a:off x="9067800" y="2352675"/>
            <a:ext cx="2590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04  Service Layer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B697310-2C29-4934-AE63-7948374D949D}"/>
              </a:ext>
            </a:extLst>
          </p:cNvPr>
          <p:cNvSpPr>
            <a:spLocks noGrp="1"/>
          </p:cNvSpPr>
          <p:nvPr/>
        </p:nvSpPr>
        <p:spPr>
          <a:xfrm>
            <a:off x="9067800" y="3476625"/>
            <a:ext cx="2590800" cy="160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대시보드</a:t>
            </a:r>
          </a:p>
          <a:p>
            <a:pPr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모바일 현장 확인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B6E0BD8-5274-4A10-930D-C8AF04AD1574}"/>
              </a:ext>
            </a:extLst>
          </p:cNvPr>
          <p:cNvSpPr>
            <a:spLocks noGrp="1"/>
          </p:cNvSpPr>
          <p:nvPr/>
        </p:nvSpPr>
        <p:spPr>
          <a:xfrm>
            <a:off x="609600" y="5648325"/>
            <a:ext cx="10858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데이터 입력부터 담당자의 확인 화면까지 각 계층의 연결을 설명하세요.</a:t>
            </a:r>
          </a:p>
        </p:txBody>
      </p:sp>
    </p:spTree>
    <p:extLst>
      <p:ext uri="{BB962C8B-B14F-4D97-AF65-F5344CB8AC3E}">
        <p14:creationId xmlns:p14="http://schemas.microsoft.com/office/powerpoint/2010/main" val="158230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CDB963F-3973-43EB-B4EF-9E671853ED52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85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서비스 시연 화면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530DD9-EA1A-40EE-B2DC-2E4DA2782BF9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75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대시보드 또는 모바일 현장 확인 화면을 배치하는 페이지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186A627-F9BB-4F56-B955-700673BEB9E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4000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복지탐정 WELFIND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71BDE2D-9763-4647-8745-6845F7084F53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57313" y="1943100"/>
            <a:ext cx="6086475" cy="405765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34CAF61-ADEB-4D9E-BAE8-B90470123A9F}"/>
              </a:ext>
            </a:extLst>
          </p:cNvPr>
          <p:cNvSpPr>
            <a:spLocks noGrp="1"/>
          </p:cNvSpPr>
          <p:nvPr/>
        </p:nvSpPr>
        <p:spPr>
          <a:xfrm>
            <a:off x="8734425" y="2114550"/>
            <a:ext cx="2952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3B82"/>
                </a:solidFill>
                <a:latin typeface="Noto Sans KR"/>
                <a:ea typeface="Noto Sans KR"/>
                <a:cs typeface="Noto Sans KR"/>
              </a:rPr>
              <a:t>시연 포인트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2D9FCE2-60A0-45D4-BAA0-AFD6FD699E72}"/>
              </a:ext>
            </a:extLst>
          </p:cNvPr>
          <p:cNvSpPr>
            <a:spLocks noGrp="1"/>
          </p:cNvSpPr>
          <p:nvPr/>
        </p:nvSpPr>
        <p:spPr>
          <a:xfrm>
            <a:off x="8734425" y="2752725"/>
            <a:ext cx="2857500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오늘의 대응 큐</a:t>
            </a:r>
          </a:p>
          <a:p>
            <a:endParaRPr sz="1725" b="0">
              <a:solidFill>
                <a:srgbClr val="1E293B"/>
              </a:solidFill>
              <a:latin typeface="Noto Sans KR"/>
              <a:ea typeface="Noto Sans KR"/>
              <a:cs typeface="Noto Sans KR"/>
            </a:endParaRPr>
          </a:p>
          <a:p>
            <a:pPr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사각지대 탐색</a:t>
            </a:r>
          </a:p>
          <a:p>
            <a:endParaRPr sz="1725" b="0">
              <a:solidFill>
                <a:srgbClr val="1E293B"/>
              </a:solidFill>
              <a:latin typeface="Noto Sans KR"/>
              <a:ea typeface="Noto Sans KR"/>
              <a:cs typeface="Noto Sans KR"/>
            </a:endParaRPr>
          </a:p>
          <a:p>
            <a:pPr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현장 확인 완료</a:t>
            </a:r>
          </a:p>
          <a:p>
            <a:endParaRPr sz="1725" b="0">
              <a:solidFill>
                <a:srgbClr val="1E293B"/>
              </a:solidFill>
              <a:latin typeface="Noto Sans KR"/>
              <a:ea typeface="Noto Sans KR"/>
              <a:cs typeface="Noto Sans KR"/>
            </a:endParaRPr>
          </a:p>
          <a:p>
            <a:pPr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서비스 연계 추천</a:t>
            </a:r>
          </a:p>
          <a:p>
            <a:endParaRPr sz="1725" b="0">
              <a:solidFill>
                <a:srgbClr val="1E293B"/>
              </a:solidFill>
              <a:latin typeface="Noto Sans KR"/>
              <a:ea typeface="Noto Sans KR"/>
              <a:cs typeface="Noto Sans KR"/>
            </a:endParaRPr>
          </a:p>
          <a:p>
            <a:pPr>
              <a:def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E293B"/>
                </a:solidFill>
                <a:latin typeface="Noto Sans KR"/>
                <a:ea typeface="Noto Sans KR"/>
                <a:cs typeface="Noto Sans KR"/>
              </a:rPr>
              <a:t>후속 관찰과 개선</a:t>
            </a:r>
          </a:p>
        </p:txBody>
      </p:sp>
    </p:spTree>
    <p:extLst>
      <p:ext uri="{BB962C8B-B14F-4D97-AF65-F5344CB8AC3E}">
        <p14:creationId xmlns:p14="http://schemas.microsoft.com/office/powerpoint/2010/main" val="779908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047E98E-59DD-413E-8B9D-7B12459B943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4000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 b="0">
                <a:solidFill>
                  <a:srgbClr val="CBD5E1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BD5E1"/>
                </a:solidFill>
                <a:latin typeface="Noto Sans KR"/>
                <a:ea typeface="Noto Sans KR"/>
                <a:cs typeface="Noto Sans KR"/>
              </a:rPr>
              <a:t>복지탐정 WELFIND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B28DBB0-934F-4EDA-9416-1CAFB46C7CFB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 b="0">
                <a:solidFill>
                  <a:srgbClr val="CBD5E1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BD5E1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4325" y="2009775"/>
            <a:ext cx="2738599" cy="376237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6AE0684-588E-46D6-9553-D62245E693CA}"/>
              </a:ext>
            </a:extLst>
          </p:cNvPr>
          <p:cNvSpPr>
            <a:spLocks noGrp="1"/>
          </p:cNvSpPr>
          <p:nvPr/>
        </p:nvSpPr>
        <p:spPr>
          <a:xfrm>
            <a:off x="4953000" y="2457450"/>
            <a:ext cx="6477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감사합니다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CC6B2E9-9B6D-4611-81BF-1C2FEA34CDBE}"/>
              </a:ext>
            </a:extLst>
          </p:cNvPr>
          <p:cNvSpPr>
            <a:spLocks noGrp="1"/>
          </p:cNvSpPr>
          <p:nvPr/>
        </p:nvSpPr>
        <p:spPr>
          <a:xfrm>
            <a:off x="4991100" y="3609975"/>
            <a:ext cx="571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 b="1">
                <a:solidFill>
                  <a:srgbClr val="14B8A6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4B8A6"/>
                </a:solidFill>
                <a:latin typeface="Noto Sans KR"/>
                <a:ea typeface="Noto Sans KR"/>
                <a:cs typeface="Noto Sans KR"/>
              </a:rPr>
              <a:t>Q&amp;A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50F5384-0622-4605-9E1B-1BCD483BB0D1}"/>
              </a:ext>
            </a:extLst>
          </p:cNvPr>
          <p:cNvSpPr>
            <a:spLocks noGrp="1"/>
          </p:cNvSpPr>
          <p:nvPr/>
        </p:nvSpPr>
        <p:spPr>
          <a:xfrm>
            <a:off x="4991100" y="4619625"/>
            <a:ext cx="6477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CBD5E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CBD5E1"/>
                </a:solidFill>
                <a:latin typeface="Noto Sans KR"/>
                <a:ea typeface="Noto Sans KR"/>
                <a:cs typeface="Noto Sans KR"/>
              </a:rPr>
              <a:t>복지탐정 WELFIND</a:t>
            </a:r>
          </a:p>
          <a:p>
            <a:pPr>
              <a:defRPr sz="1800" b="0">
                <a:solidFill>
                  <a:srgbClr val="CBD5E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CBD5E1"/>
                </a:solidFill>
                <a:latin typeface="Noto Sans KR"/>
                <a:ea typeface="Noto Sans KR"/>
                <a:cs typeface="Noto Sans KR"/>
              </a:rPr>
              <a:t>사회적 고립 예방 및 대응 AI Agent</a:t>
            </a:r>
          </a:p>
        </p:txBody>
      </p:sp>
    </p:spTree>
    <p:extLst>
      <p:ext uri="{BB962C8B-B14F-4D97-AF65-F5344CB8AC3E}">
        <p14:creationId xmlns:p14="http://schemas.microsoft.com/office/powerpoint/2010/main" val="835565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</Words>
  <Application>Microsoft Office PowerPoint</Application>
  <DocSecurity>0</DocSecurity>
  <PresentationFormat>와이드스크린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1</cp:revision>
  <dcterms:created xsi:type="dcterms:W3CDTF">2026-10-06T02:17:23Z</dcterms:created>
  <dcterms:modified xsi:type="dcterms:W3CDTF">2026-10-06T02:20:53Z</dcterms:modified>
</cp:coreProperties>
</file>