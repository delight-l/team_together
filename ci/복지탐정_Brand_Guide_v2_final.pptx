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04150555043ef" /><Relationship Type="http://schemas.openxmlformats.org/officeDocument/2006/relationships/extended-properties" Target="/docProps/app.xml" Id="Rd4d8344a8c874814" /><Relationship Type="http://schemas.openxmlformats.org/officeDocument/2006/relationships/officeDocument" Target="/ppt/presentation.xml" Id="Rf363ae5ef98645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4981a7bcc4a12"/>
  </p:sldMasterIdLst>
  <p:notesMasterIdLst>
    <p:notesMasterId xmlns:r="http://schemas.openxmlformats.org/officeDocument/2006/relationships" r:id="Ref717e45a04b457b"/>
  </p:notesMasterIdLst>
  <p:sldIdLst>
    <p:sldId xmlns:r="http://schemas.openxmlformats.org/officeDocument/2006/relationships" id="256" r:id="R66124c8544ca44fe"/>
    <p:sldId xmlns:r="http://schemas.openxmlformats.org/officeDocument/2006/relationships" id="257" r:id="Rd3ac237b3eef4bb5"/>
    <p:sldId xmlns:r="http://schemas.openxmlformats.org/officeDocument/2006/relationships" id="258" r:id="Rf9fe8d829ea04cef"/>
    <p:sldId xmlns:r="http://schemas.openxmlformats.org/officeDocument/2006/relationships" id="259" r:id="R6bdc495a34254ba7"/>
    <p:sldId xmlns:r="http://schemas.openxmlformats.org/officeDocument/2006/relationships" id="260" r:id="Ra4bb8c806f1f4d2d"/>
    <p:sldId xmlns:r="http://schemas.openxmlformats.org/officeDocument/2006/relationships" id="261" r:id="R7a14c556168b4124"/>
    <p:sldId xmlns:r="http://schemas.openxmlformats.org/officeDocument/2006/relationships" id="262" r:id="R59babe39c25a49ad"/>
    <p:sldId xmlns:r="http://schemas.openxmlformats.org/officeDocument/2006/relationships" id="263" r:id="Rcfff7fbe3b604b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cfd4d054614161" /><Relationship Type="http://schemas.openxmlformats.org/officeDocument/2006/relationships/slideMaster" Target="/ppt/slideMasters/slideMaster1.xml" Id="R8e24981a7bcc4a12" /><Relationship Type="http://schemas.openxmlformats.org/officeDocument/2006/relationships/notesMaster" Target="/ppt/notesMasters/notesMaster1.xml" Id="Ref717e45a04b457b" /><Relationship Type="http://schemas.openxmlformats.org/officeDocument/2006/relationships/presProps" Target="/ppt/presProps.xml" Id="Rd83e83552ef946d8" /><Relationship Type="http://schemas.openxmlformats.org/officeDocument/2006/relationships/viewProps" Target="/ppt/viewProps.xml" Id="R5b243c77cc7c4b20" /><Relationship Type="http://schemas.openxmlformats.org/officeDocument/2006/relationships/tableStyles" Target="/ppt/tableStyles.xml" Id="Rf835eb94aefc41ff" /><Relationship Type="http://schemas.openxmlformats.org/officeDocument/2006/relationships/slide" Target="/ppt/slides/slide1.xml" Id="R66124c8544ca44fe" /><Relationship Type="http://schemas.openxmlformats.org/officeDocument/2006/relationships/slide" Target="/ppt/slides/slide2.xml" Id="Rd3ac237b3eef4bb5" /><Relationship Type="http://schemas.openxmlformats.org/officeDocument/2006/relationships/slide" Target="/ppt/slides/slide3.xml" Id="Rf9fe8d829ea04cef" /><Relationship Type="http://schemas.openxmlformats.org/officeDocument/2006/relationships/slide" Target="/ppt/slides/slide4.xml" Id="R6bdc495a34254ba7" /><Relationship Type="http://schemas.openxmlformats.org/officeDocument/2006/relationships/slide" Target="/ppt/slides/slide5.xml" Id="Ra4bb8c806f1f4d2d" /><Relationship Type="http://schemas.openxmlformats.org/officeDocument/2006/relationships/slide" Target="/ppt/slides/slide6.xml" Id="R7a14c556168b4124" /><Relationship Type="http://schemas.openxmlformats.org/officeDocument/2006/relationships/slide" Target="/ppt/slides/slide7.xml" Id="R59babe39c25a49ad" /><Relationship Type="http://schemas.openxmlformats.org/officeDocument/2006/relationships/slide" Target="/ppt/slides/slide8.xml" Id="Rcfff7fbe3b60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1413c5a111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8ef1273bb47d9" /><Relationship Type="http://schemas.openxmlformats.org/officeDocument/2006/relationships/notesMaster" Target="/ppt/notesMasters/notesMaster1.xml" Id="Ra920cb3a8101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3b2227f7dd4f20" /><Relationship Type="http://schemas.openxmlformats.org/officeDocument/2006/relationships/notesMaster" Target="/ppt/notesMasters/notesMaster1.xml" Id="R1faefec4d41941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1de0142904f65" /><Relationship Type="http://schemas.openxmlformats.org/officeDocument/2006/relationships/notesMaster" Target="/ppt/notesMasters/notesMaster1.xml" Id="R225464b0d8f04d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0522842b44391" /><Relationship Type="http://schemas.openxmlformats.org/officeDocument/2006/relationships/notesMaster" Target="/ppt/notesMasters/notesMaster1.xml" Id="Rb38afb5c29c540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cdded37a72466b" /><Relationship Type="http://schemas.openxmlformats.org/officeDocument/2006/relationships/notesMaster" Target="/ppt/notesMasters/notesMaster1.xml" Id="R45d28bee438c4c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f86f9c37484a44" /><Relationship Type="http://schemas.openxmlformats.org/officeDocument/2006/relationships/notesMaster" Target="/ppt/notesMasters/notesMaster1.xml" Id="R26bfece0e5af4c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7fec9ccf62481b" /><Relationship Type="http://schemas.openxmlformats.org/officeDocument/2006/relationships/notesMaster" Target="/ppt/notesMasters/notesMaster1.xml" Id="R79b8f5a307834a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d14862a1d34331" /><Relationship Type="http://schemas.openxmlformats.org/officeDocument/2006/relationships/notesMaster" Target="/ppt/notesMasters/notesMaster1.xml" Id="R8fc761cdacb648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주변 텍스트가 없는 세로형 기본 조합을 사용합니다. 별도의 심볼·가로형·반전형 원본은 제공되지 않아 이 페이지에서 임의 변형으로 만들지 않았습니다.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d3a68ea114e8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db825ae0cf4c1e" /><Relationship Type="http://schemas.openxmlformats.org/officeDocument/2006/relationships/slideLayout" Target="/ppt/slideLayouts/slideLayout1.xml" Id="R54952661ae8c497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952661ae8c497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63712160a4515" /><Relationship Type="http://schemas.openxmlformats.org/officeDocument/2006/relationships/image" Target="/ppt/media/image.png" Id="R63242aaa0448410b" /><Relationship Type="http://schemas.openxmlformats.org/officeDocument/2006/relationships/notesSlide" Target="/ppt/notesSlides/notesSlide1.xml" Id="Rdc77756f5c9d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e58052580425b" /><Relationship Type="http://schemas.openxmlformats.org/officeDocument/2006/relationships/notesSlide" Target="/ppt/notesSlides/notesSlide2.xml" Id="R66bdbc76bc2741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8f20a0c634be6" /><Relationship Type="http://schemas.openxmlformats.org/officeDocument/2006/relationships/image" Target="/ppt/media/image2.png" Id="R8b0ce602f51f43ea" /><Relationship Type="http://schemas.openxmlformats.org/officeDocument/2006/relationships/notesSlide" Target="/ppt/notesSlides/notesSlide3.xml" Id="R7cd98412838b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d42898f114994" /><Relationship Type="http://schemas.openxmlformats.org/officeDocument/2006/relationships/notesSlide" Target="/ppt/notesSlides/notesSlide4.xml" Id="R273441e4958a42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c72f4dc184844" /><Relationship Type="http://schemas.openxmlformats.org/officeDocument/2006/relationships/notesSlide" Target="/ppt/notesSlides/notesSlide5.xml" Id="R955878bd367046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5de63f11f4ab5" /><Relationship Type="http://schemas.openxmlformats.org/officeDocument/2006/relationships/image" Target="/ppt/media/image3.png" Id="Re236827e745e4d41" /><Relationship Type="http://schemas.openxmlformats.org/officeDocument/2006/relationships/notesSlide" Target="/ppt/notesSlides/notesSlide6.xml" Id="R82669e13a4a44d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5d84f02d043f4" /><Relationship Type="http://schemas.openxmlformats.org/officeDocument/2006/relationships/image" Target="/ppt/media/image4.png" Id="R78e6849ab12546f2" /><Relationship Type="http://schemas.openxmlformats.org/officeDocument/2006/relationships/notesSlide" Target="/ppt/notesSlides/notesSlide7.xml" Id="R6aa35d5703794e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47a957de64df8" /><Relationship Type="http://schemas.openxmlformats.org/officeDocument/2006/relationships/notesSlide" Target="/ppt/notesSlides/notesSlide8.xml" Id="R2469eb83d5334f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B3999-C199-49A3-81AC-371067D9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CCFB5-6C93-45CF-8718-C7106320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42aaa0448410b"/>
          <a:stretch xmlns:a="http://schemas.openxmlformats.org/drawingml/2006/main"/>
        </p:blipFill>
        <p:spPr>
          <a:xfrm xmlns:a="http://schemas.openxmlformats.org/drawingml/2006/main">
            <a:off x="7497827" y="1257300"/>
            <a:ext cx="3244720" cy="4457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77545-C3C5-4082-BB8B-D115FFC4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47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복지탐정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A2477-6F2E-450B-9D7C-29A56B88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WELFIND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1B9F4-F476-453A-AB4B-26671CB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Brand Guide v2.0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CD8FA-0D88-48EA-8B72-F9FE1981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19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보이지 않는 고립의 신호를</a:t>
            </a:r>
          </a:p>
          <a:p xmlns:a="http://schemas.openxmlformats.org/drawingml/2006/main">
            <a:pPr>
              <a:buNone/>
              <a:defRPr sz="22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먼저 찾아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56E7A-6FE6-469F-A81C-42CC059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탐지    분석    연결    동행</a:t>
            </a:r>
          </a:p>
        </p:txBody>
      </p:sp>
    </p:spTree>
    <p:extLst>
      <p:ext uri="{BB962C8B-B14F-4D97-AF65-F5344CB8AC3E}">
        <p14:creationId xmlns:p14="http://schemas.microsoft.com/office/powerpoint/2010/main" val="976680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DC03A-2287-47A4-BD70-EEB3CFB2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브랜드 컨셉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4E9E2-1F2A-4A15-8128-A281C40B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위험 탐지부터 서비스 연결과 후속 관찰까지 담당자의 판단을 돕는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2994E-F460-4816-8064-62464A15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BEF9C-6366-492C-ABB4-F274678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9C31A-2357-464C-B7FF-D740959F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4B8F6-4087-4D41-AC9D-011EC2DF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3286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사회적 고립의 초기 징후를 지역·집단 단위로 발견하고, 담당자의 실질적인 대응을 돕습니다.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3C035-70BB-4B90-BE25-8B5E7362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Personality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6C28A-0439-47E9-95D6-4BB18FBA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28925"/>
            <a:ext cx="3286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따뜻하고 친근한 표현을 사용하며, 행정 업무에 맞는 신뢰감을 유지합니다.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BF35D-9244-4C23-9149-F67D5F30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Promise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BD172-DCCB-41ED-B559-2BC809E7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28925"/>
            <a:ext cx="3286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분석 근거와 한계를 함께 설명하고, 현장 피드백을 다음 추천에 반영합니다.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ABA31-88EF-4C16-B52C-88FCCDB1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탐지  /  작은 변화 포착     분석  /  위험 원인 추적</a:t>
            </a:r>
          </a:p>
          <a:p xmlns:a="http://schemas.openxmlformats.org/drawingml/2006/main">
            <a:pPr>
              <a:buNone/>
              <a:defRPr sz="1725" b="0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연결  /  필요 지원 매칭     동행  /  공무원 업무 보조</a:t>
            </a:r>
          </a:p>
        </p:txBody>
      </p:sp>
    </p:spTree>
    <p:extLst>
      <p:ext uri="{BB962C8B-B14F-4D97-AF65-F5344CB8AC3E}">
        <p14:creationId xmlns:p14="http://schemas.microsoft.com/office/powerpoint/2010/main" val="1187178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6227A-0ABF-4B86-8CF4-6C68AEB0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로고 시스템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E03F6-A114-4B96-8EB0-02D497DC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설명과 슬로건을 분리하고, 로고 주변에 일정한 여백을 확보합니다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ce602f51f43ea"/>
          <a:stretch xmlns:a="http://schemas.openxmlformats.org/drawingml/2006/main"/>
        </p:blipFill>
        <p:spPr>
          <a:xfrm xmlns:a="http://schemas.openxmlformats.org/drawingml/2006/main">
            <a:off x="808150" y="1962150"/>
            <a:ext cx="4165375" cy="3381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12F68-BDFB-4F4A-96EF-68C210AD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세로형 기본 로고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16F3B-BF34-48A8-BAD1-1E27E71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안전 여백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FF077-13CC-4D4A-91B0-CCC3DDEF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431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상하좌우 로고 높이의 1/3 이상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731B1-DC4B-43A5-BB9E-68AE4912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최소 크기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3572B-7BB6-4CAB-883D-721A39D4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766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PPT 기준 로고 폭 22mm 이상 권장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B1D4C-EE78-4C30-8399-C151B89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624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배경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ACAAF-EC00-4A9A-BF60-378EB542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100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밝은 단색 배경에 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3F1F1-A7BD-4F0F-9949-80F70185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958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사용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260C9-0DE3-49CE-A50D-7F9D35FA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435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비율·색상·자간 변경과 문구 겹침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A419E-1078-454C-8B9D-D7C80F14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FE40B-8EC5-49AC-8868-3322116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8840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83761-9BBB-4B7B-9DD3-00DEBBBA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컬러 시스템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677A0-A10E-48C0-9022-EE47135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네이비와 블루를 중심으로 사용하고, 상태와 메시지에 맞춰 보조색을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153B1-6F20-4E1F-8512-279B35B3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040A2-4A12-42DC-8256-7AF2700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AEE04-979F-4AE8-816A-3E651763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Primary Navy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34A05-D375-4CDD-A9CA-935A707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#0F3B82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CE7A2-7901-44FE-A275-87425898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AI Blue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6BF9B-CF69-4B54-87CB-D10FFB39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3840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#2563EB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8F64F-8702-4810-AC61-FB7CFE35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0A5F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60A5FA"/>
                </a:solidFill>
                <a:latin typeface="Noto Sans KR"/>
                <a:ea typeface="Noto Sans KR"/>
                <a:cs typeface="Noto Sans KR"/>
              </a:rPr>
              <a:t>Light Blue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7E05E-3C1F-4F78-A3D1-CE8863E5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3840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#60A5FA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B4942-5028-4726-A30B-0319DB8F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Connect Teal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C6802-3BDA-49FF-939E-B1EDBB1F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#14B8A6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F2888-970A-464B-8824-CEA5BEB7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B98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Success Green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C724C-401E-47C4-84A8-FDE72368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#10B981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92625-5E88-4428-8FA1-80189937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7A8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7A8A"/>
                </a:solidFill>
                <a:latin typeface="Noto Sans KR"/>
                <a:ea typeface="Noto Sans KR"/>
                <a:cs typeface="Noto Sans KR"/>
              </a:rPr>
              <a:t>Human Coral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C9C8A-B6AC-4148-89E8-E3396B31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#FF7A8A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91F7A-8872-47ED-9E58-042D1D88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185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Notice Amber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00018-FB7A-4852-92D3-725C0003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#F59E0B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C3392-E510-4031-9A8E-07D32BAE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기본 배경  #F5FAFF 또는 흰색     구분선  #DCE7F5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96959-FF5D-4500-AB0F-F500D82C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핵심 숫자에는 Blue, 연결·완료에는 Teal/Green, 사람 중심 메시지에는 Coral을 사용합니다.</a:t>
            </a:r>
          </a:p>
          <a:p xmlns:a="http://schemas.openxmlformats.org/drawingml/2006/main">
            <a:pPr>
              <a:buNone/>
              <a:defRPr sz="15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위험 단계 색상은 화면에서 사용하며, 문서에서는 과도한 경고색을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893821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5AB06-F773-420A-A9EA-B5B64C5B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타이포그래피와 레이아웃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6EC4B-B6E5-4CC7-A8E6-AC70B4CD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제목과 본문의 위치를 고정하고, 한 슬라이드에 하나의 핵심 메시지를 담습니다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865CB-8BD4-4B61-8329-4F38831D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D6E5C-A31B-4798-BB7A-E8284087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2452F-B340-427C-A66B-E8660450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Noto Sans KR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F27EF-E38E-4B6D-BC8A-A9A63CD3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표지 제목   32–44pt</a:t>
            </a:r>
          </a:p>
          <a:p xmlns:a="http://schemas.openxmlformats.org/drawingml/2006/main">
            <a:pPr>
              <a:buNone/>
              <a:def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슬라이드 제목   24–30pt</a:t>
            </a:r>
          </a:p>
          <a:p xmlns:a="http://schemas.openxmlformats.org/drawingml/2006/main">
            <a:pPr>
              <a:buNone/>
              <a:def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본문   15–18pt</a:t>
            </a:r>
          </a:p>
          <a:p xmlns:a="http://schemas.openxmlformats.org/drawingml/2006/main">
            <a:pPr>
              <a:buNone/>
              <a:def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주석   9–11pt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DD50A-3918-47AD-BBDA-A7955465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공통 정렬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5C5E2-A44E-44E0-8B1C-267AEC8D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좌우 여백은 동일하게 유지</a:t>
            </a:r>
          </a:p>
          <a:p xmlns:a="http://schemas.openxmlformats.org/drawingml/2006/main">
            <a:pPr>
              <a:buNone/>
              <a:def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제목과 본문의 시작선을 정렬</a:t>
            </a:r>
          </a:p>
          <a:p xmlns:a="http://schemas.openxmlformats.org/drawingml/2006/main">
            <a:pPr>
              <a:buNone/>
              <a:def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근거는 2–3개로 제한</a:t>
            </a:r>
          </a:p>
          <a:p xmlns:a="http://schemas.openxmlformats.org/drawingml/2006/main">
            <a:pPr>
              <a:buNone/>
              <a:def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다음 행동은 한 문장으로 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DA2EA-B2B7-4712-808A-C037C1DD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71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근거가 있는 판단만 제시합니다. 대상자를 낙인찍는 표현을 피합니다.</a:t>
            </a:r>
          </a:p>
          <a:p xmlns:a="http://schemas.openxmlformats.org/drawingml/2006/main">
            <a:pPr>
              <a:buNone/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AI는 업무를 보조하고, 담당자가 최종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603037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6A201-473D-4ACA-A67C-83A981A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캐릭터 사용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01A5F-066B-4301-B459-E50574AF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캐릭터는 페이지의 기능을 안내하며, 설명 텍스트와 분리해서 사용합니다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8798B-76C0-4979-A151-819FE320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ED3C0-F52A-4CD0-9962-839A4D3B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6827e745e4d41"/>
          <a:stretch xmlns:a="http://schemas.openxmlformats.org/drawingml/2006/main"/>
        </p:blipFill>
        <p:spPr>
          <a:xfrm xmlns:a="http://schemas.openxmlformats.org/drawingml/2006/main">
            <a:off x="814420" y="1809750"/>
            <a:ext cx="298126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ECB26-4633-46EC-8CF0-28656464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탐색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0B2DB-80D1-4127-92D5-90327513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907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위험 신호 발견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9F0CE-9F79-4655-94CB-7DD7E12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3D801-9E21-4766-9026-41C9519C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원인과 근거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F6F6B-B0E4-40EF-A158-EADEC55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956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13893-E505-4067-A440-6451B7EF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623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대응안·서비스 추천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E11BC-DA7F-49B4-B3DD-47AEEB32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814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F1DC1-CEE9-4792-8916-C9BE1C7B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기관·서비스 연계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11248-7784-4AB1-987F-CEA408F0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18277-D281-454A-9076-76A051E9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후속 관찰·성과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926BB-49F2-46FE-A529-3EAEEECC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578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이미지의 비율을 유지하고, 본문과 겹치지 않게 배치합니다.</a:t>
            </a:r>
          </a:p>
        </p:txBody>
      </p:sp>
    </p:spTree>
    <p:extLst>
      <p:ext uri="{BB962C8B-B14F-4D97-AF65-F5344CB8AC3E}">
        <p14:creationId xmlns:p14="http://schemas.microsoft.com/office/powerpoint/2010/main" val="1468793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21649-8422-4B3B-BEFC-06382191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브랜드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70C4C-FFF5-4066-80FB-E399B2DD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문서와 발표자료는 같은 색상·서체·정렬 규칙을 사용합니다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56B9E-1C55-487A-9E02-2DFC060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28350-B776-4E6A-BD19-D1CF1D0B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6849ab12546f2"/>
          <a:stretch xmlns:a="http://schemas.openxmlformats.org/drawingml/2006/main"/>
        </p:blipFill>
        <p:spPr>
          <a:xfrm xmlns:a="http://schemas.openxmlformats.org/drawingml/2006/main">
            <a:off x="1133475" y="2028825"/>
            <a:ext cx="5000625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E0DE9-B0E8-45ED-9630-2395BE69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669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E41D5-536E-4CF8-88E3-89E8853F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위험 지역 탐색과 대응 큐에</a:t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CI 색상을 일관되게 적용합니다.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AFBDF-275C-4447-9A9D-267AD6C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문서와 발표자료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3AC98-722E-476C-A697-02FFC523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4095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표지는 메시지와 캐릭터를 간결하게 배치합니다. 본문은 제목, 근거, 다음 행동을 같은 정렬로 구성합니다.</a:t>
            </a:r>
          </a:p>
        </p:txBody>
      </p:sp>
    </p:spTree>
    <p:extLst>
      <p:ext uri="{BB962C8B-B14F-4D97-AF65-F5344CB8AC3E}">
        <p14:creationId xmlns:p14="http://schemas.microsoft.com/office/powerpoint/2010/main" val="1631295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B31BE-8630-4EB8-9D4A-D3204734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사용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52C8-B99A-4082-9659-ACEE886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 대상자를 낙인찍지 않고, 데이터의 한계를 명확히 표현합니다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68F20-2C82-40A0-BEA6-BE4699E2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899CB-4C43-43D9-8333-EB738ABA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743E-3E56-4947-AF90-570B439B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권장 표현과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00D0E-61D2-4F43-85AF-6CDA80F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위험 신호가 증가한 지역처럼</a:t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지역·집단 단위로 표현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AI 판단 근거와 한계를 함께 표기</a:t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현장 확인 결과를 추천 개선에 반영</a:t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서비스 연결 이후의 관찰까지 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BCC62-431C-4195-AB9F-706087F7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주의할 표현과 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F8A69-A7CC-412F-B233-427FDFB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5048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개인·가구를 직접 특정한 듯한 표현</a:t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위험도 숫자만으로 단정한 정책 판단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장식 목적의 과도한 캐릭터 반복</a:t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로고 색상·비율·자간의 임의 변경</a:t>
            </a:r>
          </a:p>
          <a:p xmlns:a="http://schemas.openxmlformats.org/drawingml/2006/main">
            <a:pPr>
              <a:buNone/>
              <a:def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로고와 겹치는 문구나 복잡한 배경</a:t>
            </a:r>
          </a:p>
        </p:txBody>
      </p:sp>
    </p:spTree>
    <p:extLst>
      <p:ext uri="{BB962C8B-B14F-4D97-AF65-F5344CB8AC3E}">
        <p14:creationId xmlns:p14="http://schemas.microsoft.com/office/powerpoint/2010/main" val="12493985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2026-10-06T02:19:06.3990000Z</dcterms:created>
  <dcterms:modified xsi:type="dcterms:W3CDTF">2026-10-06T02:19:06.3990000Z</dcterms:modified>
</coreProperties>
</file>